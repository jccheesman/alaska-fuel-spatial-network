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"/>
            <a:ext cx="1036289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 i="0">
                <a:solidFill>
                  <a:srgbClr val="D62728"/>
                </a:solidFill>
              </a:rPr>
              <a:t>Fuel disruption &amp; community impacts ignite an urgent need for data deliverables built on this geospatial data</a:t>
            </a:r>
          </a:p>
        </p:txBody>
      </p:sp>
      <p:sp>
        <p:nvSpPr>
          <p:cNvPr id="3" name="Down Arrow 2"/>
          <p:cNvSpPr/>
          <p:nvPr/>
        </p:nvSpPr>
        <p:spPr>
          <a:xfrm>
            <a:off x="5839815" y="640080"/>
            <a:ext cx="512064" cy="310896"/>
          </a:xfrm>
          <a:prstGeom prst="downArrow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24128"/>
            <a:ext cx="3728618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A. Bulk fuel facilities</a:t>
            </a:r>
          </a:p>
        </p:txBody>
      </p:sp>
      <p:pic>
        <p:nvPicPr>
          <p:cNvPr id="5" name="Picture 4" descr="pane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3728618" cy="34622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31538" y="1024128"/>
            <a:ext cx="3728618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B. Multimodal spatial network</a:t>
            </a:r>
          </a:p>
        </p:txBody>
      </p:sp>
      <p:pic>
        <p:nvPicPr>
          <p:cNvPr id="7" name="Picture 6" descr="panel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538" y="1417320"/>
            <a:ext cx="3728618" cy="3462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43036" y="1024128"/>
            <a:ext cx="3728618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600" b="1" i="0">
                <a:solidFill>
                  <a:srgbClr val="333333"/>
                </a:solidFill>
              </a:rPr>
              <a:t>C. Tank capacity at hubs</a:t>
            </a:r>
          </a:p>
        </p:txBody>
      </p:sp>
      <p:pic>
        <p:nvPicPr>
          <p:cNvPr id="9" name="Picture 8" descr="panel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036" y="1417320"/>
            <a:ext cx="3728618" cy="34622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0040" y="4983480"/>
            <a:ext cx="11551615" cy="1554480"/>
          </a:xfrm>
          <a:prstGeom prst="roundRect">
            <a:avLst/>
          </a:prstGeom>
          <a:solidFill>
            <a:srgbClr val="F6F6F4"/>
          </a:solidFill>
          <a:ln w="15875">
            <a:solidFill>
              <a:srgbClr val="BBBBBB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77295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D. Socio-economic &amp; cost context  (reserved)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21945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4000" b="1" i="0">
                <a:solidFill>
                  <a:srgbClr val="9A9A9A"/>
                </a:solidFill>
              </a:rPr>
              <a:t>?    →    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5394960"/>
            <a:ext cx="5120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Reserved for the missing link: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566928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</a:rPr>
              <a:t>•  community demand &amp; population</a:t>
            </a:r>
          </a:p>
          <a:p>
            <a:pPr algn="l"/>
            <a:r>
              <a:rPr sz="1100">
                <a:solidFill>
                  <a:srgbClr val="555555"/>
                </a:solidFill>
              </a:rPr>
              <a:t>•  cost of energy burden</a:t>
            </a:r>
          </a:p>
          <a:p>
            <a:pPr algn="l"/>
            <a:r>
              <a:rPr sz="1100">
                <a:solidFill>
                  <a:srgbClr val="555555"/>
                </a:solidFill>
              </a:rPr>
              <a:t>•  delivery cost per gallon</a:t>
            </a:r>
          </a:p>
          <a:p>
            <a:pPr algn="l"/>
            <a:r>
              <a:rPr sz="1100">
                <a:solidFill>
                  <a:srgbClr val="555555"/>
                </a:solidFill>
              </a:rPr>
              <a:t>•  disruption / outage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495" y="5440680"/>
            <a:ext cx="3383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</a:rPr>
              <a:t>The data exists — qualitative and quantitative — but is not yet joined to the network above.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495" y="6080760"/>
            <a:ext cx="3383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 i="1">
                <a:solidFill>
                  <a:srgbClr val="777777"/>
                </a:solidFill>
              </a:rPr>
              <a:t>how do we connect them?</a:t>
            </a:r>
          </a:p>
        </p:txBody>
      </p:sp>
      <p:sp>
        <p:nvSpPr>
          <p:cNvPr id="17" name="Left Brace 16"/>
          <p:cNvSpPr/>
          <p:nvPr/>
        </p:nvSpPr>
        <p:spPr>
          <a:xfrm>
            <a:off x="18288" y="1024128"/>
            <a:ext cx="274320" cy="5513832"/>
          </a:xfrm>
          <a:prstGeom prst="leftBrace">
            <a:avLst/>
          </a:prstGeom>
          <a:noFill/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Brace 17"/>
          <p:cNvSpPr/>
          <p:nvPr/>
        </p:nvSpPr>
        <p:spPr>
          <a:xfrm>
            <a:off x="11899087" y="1024128"/>
            <a:ext cx="274320" cy="5513832"/>
          </a:xfrm>
          <a:prstGeom prst="rightBrace">
            <a:avLst/>
          </a:prstGeom>
          <a:noFill/>
          <a:ln w="254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